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4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7" r:id="rId10"/>
    <p:sldId id="266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4AEF7-AC29-4921-AC95-D4C7670D511F}" v="20" dt="2026-03-28T11:47:19.5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Bhowmik" userId="3a0e9f24d7d59684" providerId="LiveId" clId="{6348F4BA-DCFE-4661-8206-777F1163786C}"/>
    <pc:docChg chg="undo custSel modSld">
      <pc:chgData name="Shubham Bhowmik" userId="3a0e9f24d7d59684" providerId="LiveId" clId="{6348F4BA-DCFE-4661-8206-777F1163786C}" dt="2026-03-28T11:47:19.520" v="403" actId="1076"/>
      <pc:docMkLst>
        <pc:docMk/>
      </pc:docMkLst>
      <pc:sldChg chg="modSp mod">
        <pc:chgData name="Shubham Bhowmik" userId="3a0e9f24d7d59684" providerId="LiveId" clId="{6348F4BA-DCFE-4661-8206-777F1163786C}" dt="2026-03-28T11:47:19.520" v="403" actId="1076"/>
        <pc:sldMkLst>
          <pc:docMk/>
          <pc:sldMk cId="0" sldId="256"/>
        </pc:sldMkLst>
        <pc:spChg chg="mod">
          <ac:chgData name="Shubham Bhowmik" userId="3a0e9f24d7d59684" providerId="LiveId" clId="{6348F4BA-DCFE-4661-8206-777F1163786C}" dt="2026-03-28T11:47:07.004" v="40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11:47:19.520" v="40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8:25.420" v="373" actId="2711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Shubham Bhowmik" userId="3a0e9f24d7d59684" providerId="LiveId" clId="{6348F4BA-DCFE-4661-8206-777F1163786C}" dt="2026-03-28T09:17:39.054" v="337" actId="2711"/>
        <pc:sldMkLst>
          <pc:docMk/>
          <pc:sldMk cId="0" sldId="257"/>
        </pc:sldMkLst>
        <pc:spChg chg="mod">
          <ac:chgData name="Shubham Bhowmik" userId="3a0e9f24d7d59684" providerId="LiveId" clId="{6348F4BA-DCFE-4661-8206-777F1163786C}" dt="2026-03-28T09:17:39.054" v="337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7:31.036" v="336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hubham Bhowmik" userId="3a0e9f24d7d59684" providerId="LiveId" clId="{6348F4BA-DCFE-4661-8206-777F1163786C}" dt="2026-03-28T09:17:19.966" v="335" actId="2711"/>
        <pc:sldMkLst>
          <pc:docMk/>
          <pc:sldMk cId="0" sldId="258"/>
        </pc:sldMkLst>
        <pc:spChg chg="mod">
          <ac:chgData name="Shubham Bhowmik" userId="3a0e9f24d7d59684" providerId="LiveId" clId="{6348F4BA-DCFE-4661-8206-777F1163786C}" dt="2026-03-28T09:17:19.966" v="335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7:12.651" v="334" actId="2711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Shubham Bhowmik" userId="3a0e9f24d7d59684" providerId="LiveId" clId="{6348F4BA-DCFE-4661-8206-777F1163786C}" dt="2026-03-28T09:16:56.080" v="333" actId="2711"/>
        <pc:sldMkLst>
          <pc:docMk/>
          <pc:sldMk cId="0" sldId="259"/>
        </pc:sldMkLst>
        <pc:spChg chg="mod">
          <ac:chgData name="Shubham Bhowmik" userId="3a0e9f24d7d59684" providerId="LiveId" clId="{6348F4BA-DCFE-4661-8206-777F1163786C}" dt="2026-03-28T09:16:56.080" v="333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6:49.388" v="332" actId="2711"/>
          <ac:spMkLst>
            <pc:docMk/>
            <pc:sldMk cId="0" sldId="259"/>
            <ac:spMk id="8" creationId="{3F3561EC-A7D8-A8F9-DE0E-1D1EF74E3B32}"/>
          </ac:spMkLst>
        </pc:spChg>
      </pc:sldChg>
      <pc:sldChg chg="modSp mod">
        <pc:chgData name="Shubham Bhowmik" userId="3a0e9f24d7d59684" providerId="LiveId" clId="{6348F4BA-DCFE-4661-8206-777F1163786C}" dt="2026-03-28T09:16:31.704" v="330" actId="12"/>
        <pc:sldMkLst>
          <pc:docMk/>
          <pc:sldMk cId="0" sldId="260"/>
        </pc:sldMkLst>
        <pc:spChg chg="mod">
          <ac:chgData name="Shubham Bhowmik" userId="3a0e9f24d7d59684" providerId="LiveId" clId="{6348F4BA-DCFE-4661-8206-777F1163786C}" dt="2026-03-28T09:16:01.197" v="326" actId="14100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6:31.704" v="330" actId="12"/>
          <ac:spMkLst>
            <pc:docMk/>
            <pc:sldMk cId="0" sldId="260"/>
            <ac:spMk id="10" creationId="{7E2A00F1-A06E-3A4B-B3C1-A04360DF7909}"/>
          </ac:spMkLst>
        </pc:spChg>
      </pc:sldChg>
      <pc:sldChg chg="addSp delSp modSp mod">
        <pc:chgData name="Shubham Bhowmik" userId="3a0e9f24d7d59684" providerId="LiveId" clId="{6348F4BA-DCFE-4661-8206-777F1163786C}" dt="2026-03-28T09:15:26.267" v="323" actId="2711"/>
        <pc:sldMkLst>
          <pc:docMk/>
          <pc:sldMk cId="0" sldId="262"/>
        </pc:sldMkLst>
        <pc:spChg chg="mod">
          <ac:chgData name="Shubham Bhowmik" userId="3a0e9f24d7d59684" providerId="LiveId" clId="{6348F4BA-DCFE-4661-8206-777F1163786C}" dt="2026-03-28T09:15:26.267" v="323" actId="2711"/>
          <ac:spMkLst>
            <pc:docMk/>
            <pc:sldMk cId="0" sldId="262"/>
            <ac:spMk id="2" creationId="{00000000-0000-0000-0000-000000000000}"/>
          </ac:spMkLst>
        </pc:spChg>
        <pc:picChg chg="add del mod">
          <ac:chgData name="Shubham Bhowmik" userId="3a0e9f24d7d59684" providerId="LiveId" clId="{6348F4BA-DCFE-4661-8206-777F1163786C}" dt="2026-03-28T08:52:17.261" v="60" actId="478"/>
          <ac:picMkLst>
            <pc:docMk/>
            <pc:sldMk cId="0" sldId="262"/>
            <ac:picMk id="4" creationId="{141151CA-155B-68A2-E742-09CAB36D4286}"/>
          </ac:picMkLst>
        </pc:picChg>
        <pc:picChg chg="del">
          <ac:chgData name="Shubham Bhowmik" userId="3a0e9f24d7d59684" providerId="LiveId" clId="{6348F4BA-DCFE-4661-8206-777F1163786C}" dt="2026-03-28T08:49:21.431" v="49" actId="478"/>
          <ac:picMkLst>
            <pc:docMk/>
            <pc:sldMk cId="0" sldId="262"/>
            <ac:picMk id="5" creationId="{BAEF5B4A-D4C1-852A-032E-6749B3B83B64}"/>
          </ac:picMkLst>
        </pc:picChg>
        <pc:picChg chg="add mod">
          <ac:chgData name="Shubham Bhowmik" userId="3a0e9f24d7d59684" providerId="LiveId" clId="{6348F4BA-DCFE-4661-8206-777F1163786C}" dt="2026-03-28T08:52:56.235" v="65" actId="14100"/>
          <ac:picMkLst>
            <pc:docMk/>
            <pc:sldMk cId="0" sldId="262"/>
            <ac:picMk id="7" creationId="{E6E62C6B-B0E8-1581-CC80-9E4C29D8885E}"/>
          </ac:picMkLst>
        </pc:picChg>
      </pc:sldChg>
      <pc:sldChg chg="addSp delSp modSp mod">
        <pc:chgData name="Shubham Bhowmik" userId="3a0e9f24d7d59684" providerId="LiveId" clId="{6348F4BA-DCFE-4661-8206-777F1163786C}" dt="2026-03-28T09:15:15.973" v="322" actId="2711"/>
        <pc:sldMkLst>
          <pc:docMk/>
          <pc:sldMk cId="0" sldId="264"/>
        </pc:sldMkLst>
        <pc:spChg chg="mod">
          <ac:chgData name="Shubham Bhowmik" userId="3a0e9f24d7d59684" providerId="LiveId" clId="{6348F4BA-DCFE-4661-8206-777F1163786C}" dt="2026-03-28T09:15:15.973" v="322" actId="2711"/>
          <ac:spMkLst>
            <pc:docMk/>
            <pc:sldMk cId="0" sldId="264"/>
            <ac:spMk id="2" creationId="{8768B6D7-5B14-C2E4-192E-C282AB38F8A3}"/>
          </ac:spMkLst>
        </pc:spChg>
        <pc:picChg chg="add del mod">
          <ac:chgData name="Shubham Bhowmik" userId="3a0e9f24d7d59684" providerId="LiveId" clId="{6348F4BA-DCFE-4661-8206-777F1163786C}" dt="2026-03-28T08:56:06.991" v="75" actId="478"/>
          <ac:picMkLst>
            <pc:docMk/>
            <pc:sldMk cId="0" sldId="264"/>
            <ac:picMk id="4" creationId="{CCAD0B1D-AB53-6163-CAD1-DF18B2B1B8D4}"/>
          </ac:picMkLst>
        </pc:picChg>
        <pc:picChg chg="del">
          <ac:chgData name="Shubham Bhowmik" userId="3a0e9f24d7d59684" providerId="LiveId" clId="{6348F4BA-DCFE-4661-8206-777F1163786C}" dt="2026-03-28T08:54:53.242" v="66" actId="478"/>
          <ac:picMkLst>
            <pc:docMk/>
            <pc:sldMk cId="0" sldId="264"/>
            <ac:picMk id="5" creationId="{48324E63-C73E-F6DD-594E-E514CCBC0598}"/>
          </ac:picMkLst>
        </pc:picChg>
        <pc:picChg chg="add del mod">
          <ac:chgData name="Shubham Bhowmik" userId="3a0e9f24d7d59684" providerId="LiveId" clId="{6348F4BA-DCFE-4661-8206-777F1163786C}" dt="2026-03-28T08:56:45.718" v="82" actId="478"/>
          <ac:picMkLst>
            <pc:docMk/>
            <pc:sldMk cId="0" sldId="264"/>
            <ac:picMk id="7" creationId="{7A50C0BB-4054-63C0-753E-9D0A67C9BEA6}"/>
          </ac:picMkLst>
        </pc:picChg>
        <pc:picChg chg="add mod">
          <ac:chgData name="Shubham Bhowmik" userId="3a0e9f24d7d59684" providerId="LiveId" clId="{6348F4BA-DCFE-4661-8206-777F1163786C}" dt="2026-03-28T08:57:19.933" v="84" actId="1076"/>
          <ac:picMkLst>
            <pc:docMk/>
            <pc:sldMk cId="0" sldId="264"/>
            <ac:picMk id="9" creationId="{278A8085-2885-BC40-2C5C-5E0FF5C33239}"/>
          </ac:picMkLst>
        </pc:picChg>
      </pc:sldChg>
      <pc:sldChg chg="modSp mod">
        <pc:chgData name="Shubham Bhowmik" userId="3a0e9f24d7d59684" providerId="LiveId" clId="{6348F4BA-DCFE-4661-8206-777F1163786C}" dt="2026-03-28T09:15:06.773" v="321" actId="2711"/>
        <pc:sldMkLst>
          <pc:docMk/>
          <pc:sldMk cId="0" sldId="265"/>
        </pc:sldMkLst>
        <pc:spChg chg="mod">
          <ac:chgData name="Shubham Bhowmik" userId="3a0e9f24d7d59684" providerId="LiveId" clId="{6348F4BA-DCFE-4661-8206-777F1163786C}" dt="2026-03-28T09:15:06.773" v="321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Shubham Bhowmik" userId="3a0e9f24d7d59684" providerId="LiveId" clId="{6348F4BA-DCFE-4661-8206-777F1163786C}" dt="2026-03-28T09:14:08.900" v="317" actId="20577"/>
          <ac:spMkLst>
            <pc:docMk/>
            <pc:sldMk cId="0" sldId="265"/>
            <ac:spMk id="7" creationId="{5F2E9AEF-B697-7A1E-C2E6-4B321A910D5B}"/>
          </ac:spMkLst>
        </pc:spChg>
      </pc:sldChg>
      <pc:sldChg chg="modSp mod">
        <pc:chgData name="Shubham Bhowmik" userId="3a0e9f24d7d59684" providerId="LiveId" clId="{6348F4BA-DCFE-4661-8206-777F1163786C}" dt="2026-03-28T09:14:57.528" v="320" actId="2711"/>
        <pc:sldMkLst>
          <pc:docMk/>
          <pc:sldMk cId="0" sldId="266"/>
        </pc:sldMkLst>
        <pc:spChg chg="mod">
          <ac:chgData name="Shubham Bhowmik" userId="3a0e9f24d7d59684" providerId="LiveId" clId="{6348F4BA-DCFE-4661-8206-777F1163786C}" dt="2026-03-28T09:14:57.528" v="320" actId="2711"/>
          <ac:spMkLst>
            <pc:docMk/>
            <pc:sldMk cId="0" sldId="266"/>
            <ac:spMk id="2" creationId="{00000000-0000-0000-0000-000000000000}"/>
          </ac:spMkLst>
        </pc:spChg>
      </pc:sldChg>
      <pc:sldChg chg="modSp mod">
        <pc:chgData name="Shubham Bhowmik" userId="3a0e9f24d7d59684" providerId="LiveId" clId="{6348F4BA-DCFE-4661-8206-777F1163786C}" dt="2026-03-28T09:14:43.105" v="319" actId="2711"/>
        <pc:sldMkLst>
          <pc:docMk/>
          <pc:sldMk cId="286385754" sldId="267"/>
        </pc:sldMkLst>
        <pc:spChg chg="mod">
          <ac:chgData name="Shubham Bhowmik" userId="3a0e9f24d7d59684" providerId="LiveId" clId="{6348F4BA-DCFE-4661-8206-777F1163786C}" dt="2026-03-28T09:14:43.105" v="319" actId="2711"/>
          <ac:spMkLst>
            <pc:docMk/>
            <pc:sldMk cId="286385754" sldId="267"/>
            <ac:spMk id="2" creationId="{750A3783-9373-097A-090C-BB0A6B81A7A5}"/>
          </ac:spMkLst>
        </pc:spChg>
        <pc:spChg chg="mod">
          <ac:chgData name="Shubham Bhowmik" userId="3a0e9f24d7d59684" providerId="LiveId" clId="{6348F4BA-DCFE-4661-8206-777F1163786C}" dt="2026-03-28T09:14:20.710" v="318" actId="2711"/>
          <ac:spMkLst>
            <pc:docMk/>
            <pc:sldMk cId="286385754" sldId="267"/>
            <ac:spMk id="3" creationId="{2DB542DC-D3E9-DE99-AEDD-390E30A4A2B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01028"/>
            <a:ext cx="9143999" cy="156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00" y="201617"/>
            <a:ext cx="1828799" cy="9239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576860" y="0"/>
            <a:ext cx="2110105" cy="838200"/>
          </a:xfrm>
          <a:custGeom>
            <a:avLst/>
            <a:gdLst/>
            <a:ahLst/>
            <a:cxnLst/>
            <a:rect l="l" t="t" r="r" b="b"/>
            <a:pathLst>
              <a:path w="2110104" h="838200">
                <a:moveTo>
                  <a:pt x="2109939" y="0"/>
                </a:moveTo>
                <a:lnTo>
                  <a:pt x="0" y="0"/>
                </a:lnTo>
                <a:lnTo>
                  <a:pt x="0" y="838200"/>
                </a:lnTo>
                <a:lnTo>
                  <a:pt x="2109939" y="838200"/>
                </a:lnTo>
                <a:lnTo>
                  <a:pt x="210993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76860" y="228600"/>
            <a:ext cx="1964423" cy="6347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552603" y="190500"/>
            <a:ext cx="1983105" cy="685800"/>
          </a:xfrm>
          <a:custGeom>
            <a:avLst/>
            <a:gdLst/>
            <a:ahLst/>
            <a:cxnLst/>
            <a:rect l="l" t="t" r="r" b="b"/>
            <a:pathLst>
              <a:path w="1983104" h="685800">
                <a:moveTo>
                  <a:pt x="1982622" y="0"/>
                </a:moveTo>
                <a:lnTo>
                  <a:pt x="0" y="0"/>
                </a:lnTo>
                <a:lnTo>
                  <a:pt x="0" y="685800"/>
                </a:lnTo>
                <a:lnTo>
                  <a:pt x="1982622" y="685800"/>
                </a:lnTo>
                <a:lnTo>
                  <a:pt x="1982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88721" y="201617"/>
            <a:ext cx="1828798" cy="923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736345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ongodb.com/docs" TargetMode="External"/><Relationship Id="rId3" Type="http://schemas.openxmlformats.org/officeDocument/2006/relationships/hyperlink" Target="https://docs.agora.io/" TargetMode="External"/><Relationship Id="rId4" Type="http://schemas.openxmlformats.org/officeDocument/2006/relationships/hyperlink" Target="https://socket.io/docs/v4" TargetMode="External"/><Relationship Id="rId5" Type="http://schemas.openxmlformats.org/officeDocument/2006/relationships/hyperlink" Target="https://expressjs.com/en/guide/routing.html" TargetMode="External"/><Relationship Id="rId6" Type="http://schemas.openxmlformats.org/officeDocument/2006/relationships/hyperlink" Target="https://react.dev/learn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1600200"/>
            <a:ext cx="527024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b="1">
                <a:latin typeface="Times New Roman"/>
                <a:cs typeface="Times New Roman"/>
              </a:rPr>
              <a:t>Project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78633" y="2296795"/>
            <a:ext cx="3285490" cy="21954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sz="3600">
              <a:latin typeface="Aptos" panose="020B0004020202020204" pitchFamily="34" charset="0"/>
              <a:cs typeface="Times New Roman"/>
            </a:endParaRPr>
            <a:r>
              <a:rPr b="1"/>
              <a:t>on</a:t>
            </a: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endParaRPr sz="4400">
              <a:latin typeface="Aptos" panose="020B0004020202020204" pitchFamily="34" charset="0"/>
              <a:cs typeface="Times New Roman"/>
            </a:endParaRPr>
            <a:r>
              <a:rPr b="1"/>
              <a:t>Movie Ticket Booking System</a:t>
            </a: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endParaRPr sz="2800">
              <a:latin typeface="Aptos" panose="020B0004020202020204" pitchFamily="34" charset="0"/>
              <a:cs typeface="Times New Roman"/>
            </a:endParaRPr>
            <a:r>
              <a:rPr/>
              <a:t>(Course Code: CS253)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8300" y="5041178"/>
            <a:ext cx="3898900" cy="643766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endParaRPr sz="1800">
              <a:latin typeface="Aptos" panose="020B0004020202020204" pitchFamily="34" charset="0"/>
              <a:cs typeface="Times New Roman"/>
            </a:endParaRPr>
            <a:r>
              <a:rPr b="1"/>
              <a:t>Presented By:</a:t>
            </a:r>
          </a:p>
          <a:p>
            <a:pPr marL="527685" indent="-51498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27685" algn="l"/>
              </a:tabLst>
            </a:pPr>
            <a:endParaRPr sz="1800">
              <a:latin typeface="Aptos" panose="020B0004020202020204" pitchFamily="34" charset="0"/>
              <a:cs typeface="Times New Roman"/>
            </a:endParaRPr>
            <a:r>
              <a:rPr/>
              <a:t>Ishan (2211981175)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96376" y="64298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00"/>
              </a:spcBef>
            </a:pPr>
            <a:r>
              <a:rPr sz="4400" b="1" spc="-10">
                <a:latin typeface="Aptos" panose="020B0004020202020204" pitchFamily="34" charset="0"/>
                <a:cs typeface="Times New Roman"/>
              </a:rPr>
              <a:t>Introduction</a:t>
            </a:r>
            <a:endParaRPr sz="4400">
              <a:latin typeface="Aptos" panose="020B0004020202020204" pitchFamily="34" charset="0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" y="1378712"/>
            <a:ext cx="8915400" cy="5011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b="1"/>
              <a:t>The Movie Ticket Booking System is a web-based application that connects customers with cinema theatres through a single integrated digital platform.</a:t>
            </a:r>
          </a:p>
          <a:p>
            <a:r>
              <a:rPr/>
              <a:t>The application is built as a full-stack system using modern enterprise technologies:</a:t>
            </a:r>
          </a:p>
          <a:p>
            <a:r>
              <a:rPr b="1"/>
              <a:t>Frontend — </a:t>
            </a:r>
            <a:r>
              <a:rPr b="0"/>
              <a:t>Built with HTML5, CSS3, JavaScript, and Bootstrap for a responsive, device-friendly user interface.</a:t>
            </a:r>
          </a:p>
          <a:p>
            <a:r>
              <a:rPr b="1"/>
              <a:t>Backend — </a:t>
            </a:r>
            <a:r>
              <a:rPr b="0"/>
              <a:t>Powered by Java with Spring Boot, providing RESTful APIs for user management, movie scheduling, seat booking, and ticket processing.</a:t>
            </a:r>
          </a:p>
          <a:p>
            <a:r>
              <a:rPr b="1"/>
              <a:t>Security — </a:t>
            </a:r>
            <a:r>
              <a:rPr b="0"/>
              <a:t>Managed by Spring Security with BCrypt password hashing and role-based access control (USER / ADMIN).</a:t>
            </a:r>
          </a:p>
          <a:p>
            <a:r>
              <a:rPr/>
              <a:t>The system addresses the growing demand for fast, convenient, and user-friendly digital ticket reservation, replacing traditional queuing at cinema counters.</a:t>
            </a:r>
          </a:p>
          <a:p>
            <a:pPr marL="355600" marR="5080" indent="-342900">
              <a:lnSpc>
                <a:spcPct val="1000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endParaRPr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pc="-10"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8600" y="1404086"/>
            <a:ext cx="8839200" cy="521277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r>
              <a:rPr/>
              <a:t>The primary objectives of the Movie Ticket Booking System are:</a:t>
            </a:r>
          </a:p>
          <a:p>
            <a:r>
              <a:rPr b="1"/>
              <a:t>Enable Online Movie Browsing — </a:t>
            </a:r>
            <a:r>
              <a:rPr b="0"/>
              <a:t>Allow users to explore currently running and upcoming movies with complete details including genre, timing, and ratings.</a:t>
            </a:r>
          </a:p>
          <a:p>
            <a:r>
              <a:rPr b="1"/>
              <a:t>Real-Time Seat Selection — </a:t>
            </a:r>
            <a:r>
              <a:rPr b="0"/>
              <a:t>Provide an interactive seating layout with live availability, allowing users to choose and lock seats instantly.</a:t>
            </a:r>
          </a:p>
          <a:p>
            <a:r>
              <a:rPr b="1"/>
              <a:t>Secure Authentication — </a:t>
            </a:r>
            <a:r>
              <a:rPr b="0"/>
              <a:t>Implement robust user registration and login using Spring Security with role-based access control for users and administrators.</a:t>
            </a:r>
          </a:p>
          <a:p>
            <a:r>
              <a:rPr b="1"/>
              <a:t>Streamline Ticket Booking — </a:t>
            </a:r>
            <a:r>
              <a:rPr b="0"/>
              <a:t>Automate the complete booking lifecycle from seat reservation to digital ticket generation, reducing manual errors.</a:t>
            </a:r>
          </a:p>
          <a:p>
            <a:r>
              <a:rPr b="1"/>
              <a:t>Efficient Theatre Management — </a:t>
            </a:r>
            <a:r>
              <a:rPr b="0"/>
              <a:t>Enable admins to manage movie schedules, show timings, seat configurations, and theatre info through a centralized panel.</a:t>
            </a:r>
          </a:p>
          <a:p>
            <a:r>
              <a:rPr b="1"/>
              <a:t>Scalable Architecture — </a:t>
            </a:r>
            <a:r>
              <a:rPr b="0"/>
              <a:t>Follow MVC design patterns with Spring Boot, ensuring clean separation between data models, business logic, and presentation layers.</a:t>
            </a:r>
          </a:p>
          <a:p>
            <a:pPr marL="354965" marR="5080" indent="-342900">
              <a:lnSpc>
                <a:spcPts val="3779"/>
              </a:lnSpc>
              <a:spcBef>
                <a:spcPts val="280"/>
              </a:spcBef>
              <a:buChar char="•"/>
              <a:tabLst>
                <a:tab pos="354965" algn="l"/>
                <a:tab pos="853440" algn="l"/>
              </a:tabLst>
            </a:pPr>
            <a:endParaRPr>
              <a:latin typeface="Aptos" panose="020B00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6340">
              <a:lnSpc>
                <a:spcPct val="100000"/>
              </a:lnSpc>
              <a:spcBef>
                <a:spcPts val="95"/>
              </a:spcBef>
            </a:pPr>
            <a:r>
              <a:rPr>
                <a:latin typeface="Aptos" panose="020B0004020202020204" pitchFamily="34" charset="0"/>
              </a:rPr>
              <a:t>Market</a:t>
            </a:r>
            <a:r>
              <a:rPr spc="-215">
                <a:latin typeface="Aptos" panose="020B0004020202020204" pitchFamily="34" charset="0"/>
              </a:rPr>
              <a:t> </a:t>
            </a:r>
            <a:r>
              <a:rPr spc="-10">
                <a:latin typeface="Aptos" panose="020B0004020202020204" pitchFamily="34" charset="0"/>
              </a:rPr>
              <a:t>Analysis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3F3561EC-A7D8-A8F9-DE0E-1D1EF74E3B32}"/>
              </a:ext>
            </a:extLst>
          </p:cNvPr>
          <p:cNvSpPr txBox="1"/>
          <p:nvPr/>
        </p:nvSpPr>
        <p:spPr>
          <a:xfrm>
            <a:off x="152400" y="1404086"/>
            <a:ext cx="8763000" cy="474488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r>
              <a:rPr/>
              <a:t>The global online movie ticketing market was valued at approximately $9.2 billion in 2023 and is expected to grow at a CAGR of 5.8% through 2030, driven by increasing smartphone usage and internet penetration worldwide.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/>
              <a:t>The Movie Ticket Booking System targets the digital cinema reservation space where users need:</a:t>
            </a:r>
          </a:p>
          <a:p>
            <a:endParaRPr lang="en-US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No physical queues — </a:t>
            </a:r>
            <a:r>
              <a:rPr b="0"/>
              <a:t>Fully web-based booking from any device, anywhere.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Real-time seat visibility — </a:t>
            </a:r>
            <a:r>
              <a:rPr b="0"/>
              <a:t>Interactive layout with live availability and instant seat locking.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Secure digital payments — </a:t>
            </a:r>
            <a:r>
              <a:rPr b="0"/>
              <a:t>Integrated payment gateway with transaction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Digital ticket access — </a:t>
            </a:r>
            <a:r>
              <a:rPr b="0"/>
              <a:t>Instant generation of downloadable/showable digital tickets post-booking.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Students &amp; General Public — </a:t>
            </a:r>
            <a:r>
              <a:rPr b="0"/>
              <a:t>Easy movie discovery and quick bookings for entertainment.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Cinema Chains &amp; Multiplexes — </a:t>
            </a:r>
            <a:r>
              <a:rPr b="0"/>
              <a:t>Centralized show and seat management with reduced manual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Event Organizers — </a:t>
            </a:r>
            <a:r>
              <a:rPr b="0"/>
              <a:t>Manage special screenings, premieres, and limited-seat events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Existing Platforms (BookMyShow, PVR, INOX) — </a:t>
            </a:r>
            <a:r>
              <a:rPr b="0"/>
              <a:t>Benchmarked for UI/UX, feature completeness, and performance standards.</a:t>
            </a:r>
          </a:p>
          <a:p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905" y="69596"/>
            <a:ext cx="31764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>
                <a:latin typeface="Aptos" panose="020B0004020202020204" pitchFamily="34" charset="0"/>
              </a:rPr>
              <a:t>Key</a:t>
            </a:r>
            <a:r>
              <a:rPr spc="-135">
                <a:latin typeface="Aptos" panose="020B0004020202020204" pitchFamily="34" charset="0"/>
              </a:rPr>
              <a:t> </a:t>
            </a:r>
            <a:r>
              <a:rPr spc="-10">
                <a:latin typeface="Aptos" panose="020B0004020202020204" pitchFamily="34" charset="0"/>
              </a:rPr>
              <a:t>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A00F1-A06E-3A4B-B3C1-A04360DF7909}"/>
              </a:ext>
            </a:extLst>
          </p:cNvPr>
          <p:cNvSpPr txBox="1"/>
          <p:nvPr/>
        </p:nvSpPr>
        <p:spPr>
          <a:xfrm>
            <a:off x="0" y="1447800"/>
            <a:ext cx="8991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Authentication &amp;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Spring Security Login — </a:t>
            </a:r>
            <a:r>
              <a:rPr b="0"/>
              <a:t>Secure user registration and login with BCrypt password hashing and session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Role-Based Access Control — </a:t>
            </a:r>
            <a:r>
              <a:rPr b="0"/>
              <a:t>Separate USER and ADMIN roles; each redirects to its dedicated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Protected REST Endpoints — </a:t>
            </a:r>
            <a:r>
              <a:rPr b="0"/>
              <a:t>All sensitive API endpoints secured with Spring Security authorization filters.</a:t>
            </a:r>
          </a:p>
          <a:p>
            <a:endParaRPr lang="en-IN">
              <a:latin typeface="Aptos" panose="020B0004020202020204" pitchFamily="34" charset="0"/>
            </a:endParaRPr>
          </a:p>
          <a:p>
            <a:r>
              <a:rPr/>
              <a:t>Booking &amp; Seat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Interactive Seat Layout — </a:t>
            </a:r>
            <a:r>
              <a:rPr b="0"/>
              <a:t>Real-time seating map showing available, booked, and selected seats per show.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Seat Locking Mechanism — </a:t>
            </a:r>
            <a:r>
              <a:rPr b="0"/>
              <a:t>Temporary seat locks during reservation to prevent double-booking conflicts.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Digital Ticket Generation — </a:t>
            </a:r>
            <a:r>
              <a:rPr b="0"/>
              <a:t>Instant booking confirmation with a digital ticket containing all show and seat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Booking History &amp; Cancellation — </a:t>
            </a:r>
            <a:r>
              <a:rPr b="0"/>
              <a:t>Users can view past/upcoming bookings and cancel tickets with seat auto-release.</a:t>
            </a:r>
          </a:p>
          <a:p>
            <a:endParaRPr lang="en-IN">
              <a:latin typeface="Aptos" panose="020B0004020202020204" pitchFamily="34" charset="0"/>
            </a:endParaRPr>
          </a:p>
          <a:p>
            <a:r>
              <a:rPr/>
              <a:t>Admin &amp; Theatre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Movie &amp; Show Management — </a:t>
            </a:r>
            <a:r>
              <a:rPr b="0"/>
              <a:t>Admins add, edit, and remove movies; configure theatres and show schedules.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Booking Analytics — </a:t>
            </a:r>
            <a:r>
              <a:rPr b="0"/>
              <a:t>Track occupancy rates, revenue, peak timings, and audience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/>
              <a:t>REST API Architecture — </a:t>
            </a:r>
            <a:r>
              <a:rPr b="0"/>
              <a:t>Spring Boot RESTful APIs connect frontend and backend for all data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/>
              <a:t>Class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62C6B-B0E8-1581-CC80-9E4C29D88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066800"/>
            <a:ext cx="86106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8B6D7-5B14-C2E4-192E-C282AB38F8A3}"/>
              </a:ext>
            </a:extLst>
          </p:cNvPr>
          <p:cNvSpPr txBox="1"/>
          <p:nvPr/>
        </p:nvSpPr>
        <p:spPr>
          <a:xfrm>
            <a:off x="3505200" y="304800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/>
              <a:t>Use Case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8A8085-2885-BC40-2C5C-5E0FF5C33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43000"/>
            <a:ext cx="2981741" cy="5296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10">
              <a:latin typeface="Aptos" panose="020B0004020202020204" pitchFamily="34" charset="0"/>
            </a:endParaRPr>
            <a:r>
              <a:rPr/>
              <a:t>How to Use the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E9AEF-B697-7A1E-C2E6-4B321A910D5B}"/>
              </a:ext>
            </a:extLst>
          </p:cNvPr>
          <p:cNvSpPr txBox="1"/>
          <p:nvPr/>
        </p:nvSpPr>
        <p:spPr>
          <a:xfrm>
            <a:off x="762000" y="1371600"/>
            <a:ext cx="74141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Visit the application to access the Movie Ticket Booking System home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Sign up or log in. New users register with credentials; returning users log in directly with role-based dashboard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Browse currently running and upcoming movies. View movie details including title, genre, duration, language,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Select a movie, then choose your preferred theatre, show date, and time from available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Pick seats from the interactive seating layout. Available, booked, and selected seats are clearly color-coded.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Confirm your booking and complete payment. A digital ticket with all booking and seat details is generated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/>
              <a:t>View your booking history, download digital tickets, or cancel bookings from your account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3783-9373-097A-090C-BB0A6B81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542DC-D3E9-DE99-AEDD-390E30A4A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8303260" cy="3046988"/>
          </a:xfrm>
        </p:spPr>
        <p:txBody>
          <a:bodyPr/>
          <a:lstStyle/>
          <a:p>
            <a:endParaRPr lang="en-IN" sz="180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>
              <a:latin typeface="Aptos" panose="020B0004020202020204" pitchFamily="34" charset="0"/>
            </a:endParaRPr>
            <a:r>
              <a:rPr sz="1800"/>
              <a:t>Oracle Corporation (2024). "Java Official Documentation." docs.oracle.com/en/java/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>
              <a:latin typeface="Aptos" panose="020B0004020202020204" pitchFamily="34" charset="0"/>
            </a:endParaRPr>
            <a:r>
              <a:rPr sz="1800"/>
              <a:t>Pivotal Software (2024). "Spring Boot Official Documentation." spring.io/projects/spring-boot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>
              <a:latin typeface="Aptos" panose="020B0004020202020204" pitchFamily="34" charset="0"/>
            </a:endParaRPr>
            <a:r>
              <a:rPr sz="1800"/>
              <a:t>Oracle Corporation (2024). "MySQL Official Documentation." dev.mysql.com/doc/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>
              <a:latin typeface="Aptos" panose="020B0004020202020204" pitchFamily="34" charset="0"/>
            </a:endParaRPr>
            <a:r>
              <a:rPr sz="1800"/>
              <a:t>Spring Framework Guides (2024). "Building a RESTful Web Service." spring.io/guides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>
              <a:latin typeface="Aptos" panose="020B0004020202020204" pitchFamily="34" charset="0"/>
            </a:endParaRPr>
            <a:r>
              <a:rPr sz="1800"/>
              <a:t>Apache Maven Project (2024). "Maven Build Tool Documentation." maven.apache.org/guides/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/>
              <a:t>Research Papers and Case Studies on Online Movie Ticket Booking Systems, 2021-2023.</a:t>
            </a:r>
          </a:p>
        </p:txBody>
      </p:sp>
    </p:spTree>
    <p:extLst>
      <p:ext uri="{BB962C8B-B14F-4D97-AF65-F5344CB8AC3E}">
        <p14:creationId xmlns:p14="http://schemas.microsoft.com/office/powerpoint/2010/main" val="28638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148" y="3030863"/>
            <a:ext cx="39789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10">
                <a:latin typeface="Aptos" panose="020B0004020202020204" pitchFamily="34" charset="0"/>
                <a:cs typeface="Times New Roman"/>
              </a:rPr>
              <a:t>Thank</a:t>
            </a:r>
            <a:r>
              <a:rPr sz="6600" b="1" spc="-400">
                <a:latin typeface="Aptos" panose="020B0004020202020204" pitchFamily="34" charset="0"/>
                <a:cs typeface="Times New Roman"/>
              </a:rPr>
              <a:t> </a:t>
            </a:r>
            <a:r>
              <a:rPr sz="6600" b="1" spc="-775">
                <a:latin typeface="Aptos" panose="020B0004020202020204" pitchFamily="34" charset="0"/>
                <a:cs typeface="Times New Roman"/>
              </a:rPr>
              <a:t>Y</a:t>
            </a:r>
            <a:r>
              <a:rPr sz="6600" b="1" spc="-45">
                <a:latin typeface="Aptos" panose="020B0004020202020204" pitchFamily="34" charset="0"/>
                <a:cs typeface="Times New Roman"/>
              </a:rPr>
              <a:t>o</a:t>
            </a:r>
            <a:r>
              <a:rPr sz="6600" b="1" spc="-50">
                <a:latin typeface="Aptos" panose="020B0004020202020204" pitchFamily="34" charset="0"/>
                <a:cs typeface="Times New Roman"/>
              </a:rPr>
              <a:t>u</a:t>
            </a:r>
            <a:endParaRPr sz="6600">
              <a:latin typeface="Aptos" panose="020B0004020202020204" pitchFamily="34" charset="0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Project</vt:lpstr>
      <vt:lpstr>Introduction</vt:lpstr>
      <vt:lpstr>Objectives</vt:lpstr>
      <vt:lpstr>Market Analysis</vt:lpstr>
      <vt:lpstr>Key Features</vt:lpstr>
      <vt:lpstr>Class Diagram</vt:lpstr>
      <vt:lpstr>PowerPoint Presentation</vt:lpstr>
      <vt:lpstr>Get Started with Convo</vt:lpstr>
      <vt:lpstr>References Taken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revision>1</cp:revision>
  <dcterms:created xsi:type="dcterms:W3CDTF">2025-03-11T17:49:38Z</dcterms:created>
  <dcterms:modified xsi:type="dcterms:W3CDTF">2026-03-28T11:47:24Z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2025-03-11T00:00:00Z</vt:filetime>
  </property>
  <property fmtid="{D5CDD505-2E9C-101B-9397-08002B2CF9AE}" pid="5" name="Producer">
    <vt:lpwstr>Adobe PDF Library 25.1.204</vt:lpwstr>
  </property>
</Properties>
</file>